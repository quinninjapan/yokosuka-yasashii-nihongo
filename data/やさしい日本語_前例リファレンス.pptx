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7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A5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>
                <a:solidFill>
                  <a:srgbClr val="FFFFFF"/>
                </a:solidFill>
                <a:latin typeface="メイリオ"/>
              </a:rPr>
              <a:t>やさしい日本語
前例リファレンス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FFFFFF"/>
                </a:solidFill>
                <a:latin typeface="メイリオ"/>
              </a:rPr>
              <a:t>データで支える、やさしい日本語への書き換え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30352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333333"/>
                </a:solidFill>
                <a:latin typeface="メイリオ"/>
              </a:rPr>
              <a:t>やさしい日本語の書き換えは、なぜ難しいのか？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450592"/>
            <a:ext cx="320040" cy="320040"/>
          </a:xfrm>
          <a:prstGeom prst="ellipse">
            <a:avLst/>
          </a:prstGeom>
          <a:solidFill>
            <a:srgbClr val="E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3317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33333"/>
                </a:solidFill>
                <a:latin typeface="メイリオ"/>
              </a:rPr>
              <a:t>正解がひとつではない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同じ言葉でも、文脈や対象者によって書き換え方は異なる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502152"/>
            <a:ext cx="320040" cy="320040"/>
          </a:xfrm>
          <a:prstGeom prst="ellipse">
            <a:avLst/>
          </a:prstGeom>
          <a:solidFill>
            <a:srgbClr val="E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38328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33333"/>
                </a:solidFill>
                <a:latin typeface="メイリオ"/>
              </a:rPr>
              <a:t>判断に時間がかかる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947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「この言葉は書き換えるべき？」の議論で会議が長引く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553712"/>
            <a:ext cx="320040" cy="320040"/>
          </a:xfrm>
          <a:prstGeom prst="ellipse">
            <a:avLst/>
          </a:prstGeom>
          <a:solidFill>
            <a:srgbClr val="E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43484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33333"/>
                </a:solidFill>
                <a:latin typeface="メイリオ"/>
              </a:rPr>
              <a:t>部署ごとにバラバラ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8463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同じ市役所内でも、担当者によって書き換え方が異なる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5605272"/>
            <a:ext cx="320040" cy="320040"/>
          </a:xfrm>
          <a:prstGeom prst="ellipse">
            <a:avLst/>
          </a:prstGeom>
          <a:solidFill>
            <a:srgbClr val="E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4864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33333"/>
                </a:solidFill>
                <a:latin typeface="メイリオ"/>
              </a:rPr>
              <a:t>根拠が示しにくい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89788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「なぜこの書き換えにしたのか」を説明する材料がない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解決策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333333"/>
                </a:solidFill>
                <a:latin typeface="メイリオ"/>
              </a:rPr>
              <a:t>前例に基づくアプローチ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926080" cy="274320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</a:pPr>
            <a:r>
              <a:rPr sz="2200" b="1">
                <a:solidFill>
                  <a:srgbClr val="3B7A28"/>
                </a:solidFill>
                <a:latin typeface="メイリオ"/>
              </a:rPr>
              <a:t>① 集める</a:t>
            </a:r>
          </a:p>
          <a:p>
            <a:pPr algn="ctr">
              <a:spcBef>
                <a:spcPts val="1600"/>
              </a:spcBef>
            </a:pPr>
            <a:r>
              <a:rPr sz="1500" b="0">
                <a:solidFill>
                  <a:srgbClr val="333333"/>
                </a:solidFill>
                <a:latin typeface="メイリオ"/>
              </a:rPr>
              <a:t>全国の自治体・学術機関が
公開したやさしい日本語の
書き換え事例を収集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0752" y="3657600"/>
            <a:ext cx="40233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3B7A28"/>
                </a:solidFill>
                <a:latin typeface="メイリオ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560320"/>
            <a:ext cx="2926080" cy="274320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</a:pPr>
            <a:r>
              <a:rPr sz="2200" b="1">
                <a:solidFill>
                  <a:srgbClr val="3B7A28"/>
                </a:solidFill>
                <a:latin typeface="メイリオ"/>
              </a:rPr>
              <a:t>② 整理する</a:t>
            </a:r>
          </a:p>
          <a:p>
            <a:pPr algn="ctr">
              <a:spcBef>
                <a:spcPts val="1600"/>
              </a:spcBef>
            </a:pPr>
            <a:r>
              <a:rPr sz="1500" b="0">
                <a:solidFill>
                  <a:srgbClr val="333333"/>
                </a:solidFill>
                <a:latin typeface="メイリオ"/>
              </a:rPr>
              <a:t>用語・文例をデータベース化
JLPT難易度を自動判定
出典ごとの書き換え率を算出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472" y="3657600"/>
            <a:ext cx="40233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3B7A28"/>
                </a:solidFill>
                <a:latin typeface="メイリオ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560320"/>
            <a:ext cx="2926080" cy="274320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</a:pPr>
            <a:r>
              <a:rPr sz="2200" b="1">
                <a:solidFill>
                  <a:srgbClr val="3B7A28"/>
                </a:solidFill>
                <a:latin typeface="メイリオ"/>
              </a:rPr>
              <a:t>③ 活用する</a:t>
            </a:r>
          </a:p>
          <a:p>
            <a:pPr algn="ctr">
              <a:spcBef>
                <a:spcPts val="1600"/>
              </a:spcBef>
            </a:pPr>
            <a:r>
              <a:rPr sz="1500" b="0">
                <a:solidFill>
                  <a:srgbClr val="333333"/>
                </a:solidFill>
                <a:latin typeface="メイリオ"/>
              </a:rPr>
              <a:t>Excelで検索するだけで
前例に基づく判断材料が
すぐに手に入る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3B7A28"/>
                </a:solidFill>
                <a:latin typeface="メイリオ"/>
              </a:rPr>
              <a:t>人の判断を置き換えるものではなく、判断を支えるツール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データの出典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33333"/>
                </a:solidFill>
                <a:latin typeface="メイリオ"/>
              </a:rPr>
              <a:t>3種類のデータを組み合わせて、幅広い前例を提供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メイリオ"/>
              </a:rPr>
              <a:t>コーパスとは、言語研究のために体系的に集められた大量のテキストデータのこと。本ツールでは「原文」と「やさしい日本語」のペア（対訳）を集めたパラレルコーパスを活用しています。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83280" cy="365760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2000" b="1">
                <a:solidFill>
                  <a:srgbClr val="3B7A28"/>
                </a:solidFill>
                <a:latin typeface="メイリオ"/>
              </a:rPr>
              <a:t>行政ガイドライン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作成者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各自治体・省庁の職員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内容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用語の書き換え例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件数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17機関・2,800+語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特徴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公式な行政判断に基づく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474720"/>
            <a:ext cx="2651760" cy="27432"/>
          </a:xfrm>
          <a:prstGeom prst="rect">
            <a:avLst/>
          </a:prstGeom>
          <a:solidFill>
            <a:srgbClr val="C8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2834640"/>
            <a:ext cx="3383280" cy="365760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2000" b="1">
                <a:solidFill>
                  <a:srgbClr val="3B7A28"/>
                </a:solidFill>
                <a:latin typeface="メイリオ"/>
              </a:rPr>
              <a:t>MATCHA コーパス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作成者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愛媛大学 + MATCHA社ライター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内容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旅行・文化記事の文の書き換え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件数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14,700+文対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特徴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プロのライターが実読者向けに作成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3474720"/>
            <a:ext cx="2651760" cy="27432"/>
          </a:xfrm>
          <a:prstGeom prst="rect">
            <a:avLst/>
          </a:prstGeom>
          <a:solidFill>
            <a:srgbClr val="C8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2834640"/>
            <a:ext cx="3383280" cy="365760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2000" b="1">
                <a:solidFill>
                  <a:srgbClr val="3B7A28"/>
                </a:solidFill>
                <a:latin typeface="メイリオ"/>
              </a:rPr>
              <a:t>JADES データセット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作成者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奈良先端大の専門家1名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内容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ニュース記事の文の書き換え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件数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3,900+文対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2A571C"/>
                </a:solidFill>
                <a:latin typeface="メイリオ"/>
              </a:rPr>
              <a:t>  特徴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333333"/>
                </a:solidFill>
                <a:latin typeface="メイリオ"/>
              </a:rPr>
              <a:t>  語彙＋文法の両方を平易化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3474720"/>
            <a:ext cx="2651760" cy="27432"/>
          </a:xfrm>
          <a:prstGeom prst="rect">
            <a:avLst/>
          </a:prstGeom>
          <a:solidFill>
            <a:srgbClr val="C8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データの規模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219456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4400" b="1">
                <a:solidFill>
                  <a:srgbClr val="3B7A28"/>
                </a:solidFill>
                <a:latin typeface="メイリオ"/>
              </a:rPr>
              <a:t>19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2A571C"/>
                </a:solidFill>
                <a:latin typeface="メイリオ"/>
              </a:rPr>
              <a:t>出典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377440" cy="219456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4400" b="1">
                <a:solidFill>
                  <a:srgbClr val="3B7A28"/>
                </a:solidFill>
                <a:latin typeface="メイリオ"/>
              </a:rPr>
              <a:t>2,800+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2A571C"/>
                </a:solidFill>
                <a:latin typeface="メイリオ"/>
              </a:rPr>
              <a:t>用語ペア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377440" cy="219456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4400" b="1">
                <a:solidFill>
                  <a:srgbClr val="3B7A28"/>
                </a:solidFill>
                <a:latin typeface="メイリオ"/>
              </a:rPr>
              <a:t>18,800+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2A571C"/>
                </a:solidFill>
                <a:latin typeface="メイリオ"/>
              </a:rPr>
              <a:t>文例ペア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377440" cy="219456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</a:pPr>
            <a:r>
              <a:rPr sz="4400" b="1">
                <a:solidFill>
                  <a:srgbClr val="3B7A28"/>
                </a:solidFill>
                <a:latin typeface="メイリオ"/>
              </a:rPr>
              <a:t>22,000+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2A571C"/>
                </a:solidFill>
                <a:latin typeface="メイリオ"/>
              </a:rPr>
              <a:t>JLPT語彙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メイリオ"/>
              </a:rPr>
              <a:t>自治体・学術機関の
ガイドライン等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2062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メイリオ"/>
              </a:rPr>
              <a:t>「避難→にげる」のような
語レベルの書き換え例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062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メイリオ"/>
              </a:rPr>
              <a:t>文レベルの
やさしい日本語書き換え例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2062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メイリオ"/>
              </a:rPr>
              <a:t>N1〜N5の難易度判定に
使用する語彙データ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使い方 ①：検索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3657600" cy="640080"/>
          </a:xfrm>
          <a:prstGeom prst="roundRect">
            <a:avLst/>
          </a:prstGeom>
          <a:solidFill>
            <a:srgbClr val="FFF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メイリオ"/>
              </a:rPr>
              <a:t>避難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916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← 調べたい語を入力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1828800" cy="50292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A571C"/>
                </a:solidFill>
                <a:latin typeface="メイリオ"/>
              </a:rPr>
              <a:t>難易度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6974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33333"/>
                </a:solidFill>
                <a:latin typeface="メイリオ"/>
              </a:rPr>
              <a:t>N2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97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メイリオ"/>
              </a:rPr>
              <a:t>JLPTレベルに基づく難易度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83280"/>
            <a:ext cx="1828800" cy="50292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A571C"/>
                </a:solidFill>
                <a:latin typeface="メイリオ"/>
              </a:rPr>
              <a:t>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4290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33333"/>
                </a:solidFill>
                <a:latin typeface="メイリオ"/>
              </a:rPr>
              <a:t>ほぼいつも言い換えられている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290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メイリオ"/>
              </a:rPr>
              <a:t>文例での書き換え率に基づく判定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114800"/>
            <a:ext cx="1828800" cy="50292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A571C"/>
                </a:solidFill>
                <a:latin typeface="メイリオ"/>
              </a:rPr>
              <a:t>用語ヒット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1605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33333"/>
                </a:solidFill>
                <a:latin typeface="メイリオ"/>
              </a:rPr>
              <a:t>8 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605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メイリオ"/>
              </a:rPr>
              <a:t>用語レベルの書き換え例の件数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846320"/>
            <a:ext cx="1828800" cy="50292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A571C"/>
                </a:solidFill>
                <a:latin typeface="メイリオ"/>
              </a:rPr>
              <a:t>文例ヒット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892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33333"/>
                </a:solidFill>
                <a:latin typeface="メイリオ"/>
              </a:rPr>
              <a:t>24 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892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メイリオ"/>
              </a:rPr>
              <a:t>文レベルの書き換え例の件数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10698480" cy="36576"/>
          </a:xfrm>
          <a:prstGeom prst="rect">
            <a:avLst/>
          </a:prstGeom>
          <a:solidFill>
            <a:srgbClr val="C8E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3B7A28"/>
                </a:solidFill>
                <a:latin typeface="メイリオ"/>
              </a:rPr>
              <a:t>▼ 用語の書き換え結果（出典数の多い順に表示）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B7A28"/>
                </a:solidFill>
                <a:latin typeface="メイリオ"/>
              </a:rPr>
              <a:t>検索語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35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</a:rPr>
              <a:t>避難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7607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B7A28"/>
                </a:solidFill>
                <a:latin typeface="メイリオ"/>
              </a:rPr>
              <a:t>やさしい日本語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035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</a:rPr>
              <a:t>にげる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7607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B7A28"/>
                </a:solidFill>
                <a:latin typeface="メイリオ"/>
              </a:rPr>
              <a:t>出典数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6035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7607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B7A28"/>
                </a:solidFill>
                <a:latin typeface="メイリオ"/>
              </a:rPr>
              <a:t>出典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035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3333"/>
                </a:solidFill>
                <a:latin typeface="メイリオ"/>
              </a:rPr>
              <a:t>入管庁、川崎市、札幌市…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使い方 ②：文例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333333"/>
                </a:solidFill>
                <a:latin typeface="メイリオ"/>
              </a:rPr>
              <a:t>文レベルの書き換え例で、実際の使い方を確認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0584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666666"/>
                </a:solidFill>
                <a:latin typeface="メイリオ"/>
              </a:rPr>
              <a:t>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3333"/>
                </a:solidFill>
                <a:latin typeface="メイリオ"/>
              </a:rPr>
              <a:t>地震が発生した場合は、速やかに避難してください。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B7A28"/>
                </a:solidFill>
                <a:latin typeface="メイリオ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B7A28"/>
                </a:solidFill>
                <a:latin typeface="メイリオ"/>
              </a:rPr>
              <a:t>やさしい日本語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B7A28"/>
                </a:solidFill>
                <a:latin typeface="メイリオ"/>
              </a:rPr>
              <a:t>地震が　おきたら、すぐ　にげて　ください。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017520"/>
            <a:ext cx="1371600" cy="457200"/>
          </a:xfrm>
          <a:prstGeom prst="round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言い換え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100584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666666"/>
                </a:solidFill>
                <a:latin typeface="メイリオ"/>
              </a:rPr>
              <a:t>原文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92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3333"/>
                </a:solidFill>
                <a:latin typeface="メイリオ"/>
              </a:rPr>
              <a:t>本届出は、転入の届出と同時にすることができます。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03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B7A28"/>
                </a:solidFill>
                <a:latin typeface="メイリオ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778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B7A28"/>
                </a:solidFill>
                <a:latin typeface="メイリオ"/>
              </a:rPr>
              <a:t>やさしい日本語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8521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B7A28"/>
                </a:solidFill>
                <a:latin typeface="メイリオ"/>
              </a:rPr>
              <a:t>この届出は、引っ越しの届出と一緒に出すことができます。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5120640"/>
            <a:ext cx="1371600" cy="457200"/>
          </a:xfrm>
          <a:prstGeom prst="round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</a:rPr>
              <a:t>言い換え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判定のしくみ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333333"/>
                </a:solidFill>
                <a:latin typeface="メイリオ"/>
              </a:rPr>
              <a:t>文例での書き換え率に基づいて、4段階の判定を表示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77440"/>
            <a:ext cx="201168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80%以上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4231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E7D32"/>
                </a:solidFill>
                <a:latin typeface="メイリオ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377440"/>
            <a:ext cx="5029200" cy="64008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D32"/>
                </a:solidFill>
                <a:latin typeface="メイリオ"/>
              </a:rPr>
              <a:t>ほぼいつも言い換えられている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46120"/>
            <a:ext cx="2011680" cy="640080"/>
          </a:xfrm>
          <a:prstGeom prst="round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50〜79%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918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558B2F"/>
                </a:solidFill>
                <a:latin typeface="メイリオ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246120"/>
            <a:ext cx="5029200" cy="64008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558B2F"/>
                </a:solidFill>
                <a:latin typeface="メイリオ"/>
              </a:rPr>
              <a:t>過半数で言い換えられている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2011680" cy="640080"/>
          </a:xfrm>
          <a:prstGeom prst="roundRect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20〜49%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16052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57F17"/>
                </a:solidFill>
                <a:latin typeface="メイリオ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114800"/>
            <a:ext cx="5029200" cy="64008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7F17"/>
                </a:solidFill>
                <a:latin typeface="メイリオ"/>
              </a:rPr>
              <a:t>たまに言い換えられている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983480"/>
            <a:ext cx="2011680" cy="640080"/>
          </a:xfrm>
          <a:prstGeom prst="roundRect">
            <a:avLst/>
          </a:prstGeom>
          <a:solidFill>
            <a:srgbClr val="787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20%未満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0292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787878"/>
                </a:solidFill>
                <a:latin typeface="メイリオ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983480"/>
            <a:ext cx="5029200" cy="64008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787878"/>
                </a:solidFill>
                <a:latin typeface="メイリオ"/>
              </a:rPr>
              <a:t>大体そのまま使われている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0">
                <a:solidFill>
                  <a:srgbClr val="666666"/>
                </a:solidFill>
                <a:latin typeface="メイリオ"/>
              </a:rPr>
              <a:t>書き換え率 = </a:t>
            </a:r>
            <a:r>
              <a:rPr sz="1500" b="1">
                <a:solidFill>
                  <a:srgbClr val="666666"/>
                </a:solidFill>
                <a:latin typeface="メイリオ"/>
              </a:rPr>
              <a:t>文例で言い換えられた回数 ÷ 文例の総数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メイリオ"/>
              </a:rPr>
              <a:t>※ 判定は参考情報です。最終的な判断は、文脈に応じて担当者が行います。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出典の信頼性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333333"/>
                </a:solidFill>
                <a:latin typeface="メイリオ"/>
              </a:rPr>
              <a:t>19の行政機関・学術機関の公開資料に基づく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303520" cy="384048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200"/>
              </a:spcBef>
            </a:pPr>
            <a:r>
              <a:rPr sz="2000" b="1">
                <a:solidFill>
                  <a:srgbClr val="3B7A28"/>
                </a:solidFill>
                <a:latin typeface="メイリオ"/>
              </a:rPr>
              <a:t>  行政機関（17件）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出入国在留管理庁・文化庁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厚生労働省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自治体国際化協会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川崎市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横浜市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札幌市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福岡市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大阪市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大阪府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京都市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愛知県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三重県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鳥取県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岡山県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メイリオ"/>
              </a:rPr>
              <a:t>    入間市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029200" cy="3840480"/>
          </a:xfrm>
          <a:prstGeom prst="roundRect">
            <a:avLst/>
          </a:prstGeom>
          <a:solidFill>
            <a:srgbClr val="E8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200"/>
              </a:spcBef>
            </a:pPr>
            <a:r>
              <a:rPr sz="2000" b="1">
                <a:solidFill>
                  <a:srgbClr val="3B7A28"/>
                </a:solidFill>
                <a:latin typeface="メイリオ"/>
              </a:rPr>
              <a:t>  学術機関（2件）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33333"/>
                </a:solidFill>
                <a:latin typeface="メイリオ"/>
              </a:rPr>
              <a:t>    弘前大学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メイリオ"/>
              </a:rPr>
              <a:t>      災害基礎語彙集成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33333"/>
                </a:solidFill>
                <a:latin typeface="メイリオ"/>
              </a:rPr>
              <a:t>    愛媛大学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メイリオ"/>
              </a:rPr>
              <a:t>      MATCHAパラレルコーパス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33333"/>
                </a:solidFill>
                <a:latin typeface="メイリオ"/>
              </a:rPr>
              <a:t>    奈良先端科学技術大学院大学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666666"/>
                </a:solidFill>
                <a:latin typeface="メイリオ"/>
              </a:rPr>
              <a:t>      JADESデータセット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3B7A28"/>
                </a:solidFill>
                <a:latin typeface="メイリオ"/>
              </a:rPr>
              <a:t>複数の出典が同じ書き換えを採用 → 合意度が高い = 信頼性が高い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3B7A28"/>
                </a:solidFill>
                <a:latin typeface="メイリオ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737360"/>
            <a:ext cx="411480" cy="411480"/>
          </a:xfrm>
          <a:prstGeom prst="ellipse">
            <a:avLst/>
          </a:prstGeom>
          <a:solidFill>
            <a:srgbClr val="3B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メイリオ"/>
              </a:rPr>
              <a:t>判断が速くなる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031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前例をすぐに参照できるため、書き換えの検討時間を短縮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834640"/>
            <a:ext cx="411480" cy="411480"/>
          </a:xfrm>
          <a:prstGeom prst="ellipse">
            <a:avLst/>
          </a:prstGeom>
          <a:solidFill>
            <a:srgbClr val="3B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メイリオ"/>
              </a:rPr>
              <a:t>根拠を示せる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「○○市・△△県でも同じ書き換えを採用」と説明できる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931920"/>
            <a:ext cx="411480" cy="411480"/>
          </a:xfrm>
          <a:prstGeom prst="ellipse">
            <a:avLst/>
          </a:prstGeom>
          <a:solidFill>
            <a:srgbClr val="3B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メイリオ"/>
              </a:rPr>
              <a:t>一貫性が生まれる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9768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部署を超えて、同じデータに基づいた書き換えが可能に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029200"/>
            <a:ext cx="411480" cy="411480"/>
          </a:xfrm>
          <a:prstGeom prst="ellipse">
            <a:avLst/>
          </a:prstGeom>
          <a:solidFill>
            <a:srgbClr val="3B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33333"/>
                </a:solidFill>
                <a:latin typeface="メイリオ"/>
              </a:rPr>
              <a:t>データに基づく判断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949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メイリオ"/>
              </a:rPr>
              <a:t>感覚ではなく、実際の書き換え率に基づいた意思決定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486400"/>
            <a:ext cx="9418320" cy="822960"/>
          </a:xfrm>
          <a:prstGeom prst="roundRect">
            <a:avLst/>
          </a:prstGeom>
          <a:solidFill>
            <a:srgbClr val="3B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</a:rPr>
              <a:t>前例は「正解」ではなく「判断材料」。最終判断は人が行う。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7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A5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メイリオ"/>
              </a:rPr>
              <a:t>次のステップ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914400"/>
          </a:xfrm>
          <a:prstGeom prst="roundRect">
            <a:avLst/>
          </a:prstGeom>
          <a:solidFill>
            <a:srgbClr val="2A5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メイリオ"/>
              </a:rPr>
              <a:t>  1. Excelファイルを開く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E8C4"/>
                </a:solidFill>
                <a:latin typeface="メイリオ"/>
              </a:rPr>
              <a:t>    やさしい日本語_前例リファレンス.xlsx を開くだけ。インストール不要。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9418320" cy="914400"/>
          </a:xfrm>
          <a:prstGeom prst="roundRect">
            <a:avLst/>
          </a:prstGeom>
          <a:solidFill>
            <a:srgbClr val="2A5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メイリオ"/>
              </a:rPr>
              <a:t>  2. 「検索」タブで語を入力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E8C4"/>
                </a:solidFill>
                <a:latin typeface="メイリオ"/>
              </a:rPr>
              <a:t>    調べたい語を入力すると、難易度・判定・書き換え例がすぐに表示されます。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023360"/>
            <a:ext cx="9418320" cy="914400"/>
          </a:xfrm>
          <a:prstGeom prst="roundRect">
            <a:avLst/>
          </a:prstGeom>
          <a:solidFill>
            <a:srgbClr val="2A5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メイリオ"/>
              </a:rPr>
              <a:t>  3. 前例を参考に判断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E8C4"/>
                </a:solidFill>
                <a:latin typeface="メイリオ"/>
              </a:rPr>
              <a:t>    複数の出典の書き換え例を参考に、文脈に合った書き換えを選択してください。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120640"/>
            <a:ext cx="9418320" cy="914400"/>
          </a:xfrm>
          <a:prstGeom prst="roundRect">
            <a:avLst/>
          </a:prstGeom>
          <a:solidFill>
            <a:srgbClr val="2A5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メイリオ"/>
              </a:rPr>
              <a:t>  4. フィードバックを共有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E8C4"/>
                </a:solidFill>
                <a:latin typeface="メイリオ"/>
              </a:rPr>
              <a:t>    使ってみた感想や改善点があれば、ぜひお聞かせください。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